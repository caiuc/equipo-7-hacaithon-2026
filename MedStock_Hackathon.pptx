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5" r:id="rId9"/>
    <p:sldId id="266" r:id="rId10"/>
    <p:sldId id="262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D62"/>
    <a:srgbClr val="06A77D"/>
    <a:srgbClr val="E63946"/>
    <a:srgbClr val="AD5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C88C5-BD79-1284-2321-322F7ACF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08DAB-1296-5A4C-B44A-68E6DB811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EB5F7-299B-FD42-8950-30ABBD258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4C1C4-4A6E-688A-F480-50A738F77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39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61F64-2A90-4AC2-8D07-119A7C7B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7877A-C4E8-15DF-7B06-137AAFCE3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CA8B1-62A6-31D8-76A0-F433856D3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4B4FB-490C-B894-9C38-9A2E251F8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44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47438-D016-295D-FA7A-9AC27EE3D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27868-42E3-104B-7E6A-17901EDF5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89A93-7D16-B752-F4DF-9192D6667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13471-4C8B-D83C-F58B-C1EB75C82F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35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72D4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2103120" y="4206240"/>
            <a:ext cx="4937760" cy="4937760"/>
          </a:xfrm>
          <a:prstGeom prst="ellipse">
            <a:avLst/>
          </a:prstGeom>
          <a:solidFill>
            <a:srgbClr val="072D4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38648" y="1051560"/>
            <a:ext cx="914400" cy="91440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488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HACKAITHON  ·  SALUD PÚBLICA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MedStock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1523848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Anticipamos el </a:t>
            </a:r>
            <a:r>
              <a:rPr lang="en-US" sz="2200" i="1" dirty="0" err="1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quiebre</a:t>
            </a:r>
            <a:r>
              <a:rPr lang="en-US" sz="2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</a:t>
            </a:r>
            <a:r>
              <a:rPr lang="en-US" sz="2200" i="1" dirty="0" err="1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i="1" dirty="0" err="1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afecte</a:t>
            </a:r>
            <a:r>
              <a:rPr lang="en-US" sz="2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paciente.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072488" y="4663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inteligente de medicamentos e insumos para centros de </a:t>
            </a:r>
            <a:r>
              <a:rPr lang="en-US" sz="1300" dirty="0" err="1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r>
              <a:rPr lang="en-US" sz="13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</a:t>
            </a:r>
            <a:endParaRPr lang="en-US" sz="1300" dirty="0">
              <a:solidFill>
                <a:srgbClr val="DCEA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redes de atención primaria (CESFAM)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7 · Joaquín Parada ·  Constanza Vicencio</a:t>
            </a:r>
            <a:endParaRPr lang="en-US" sz="11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96DEACE-2F88-8FB3-7536-CF202FAFD963}"/>
              </a:ext>
            </a:extLst>
          </p:cNvPr>
          <p:cNvSpPr txBox="1"/>
          <p:nvPr/>
        </p:nvSpPr>
        <p:spPr>
          <a:xfrm>
            <a:off x="8513379" y="2301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5C979-E051-454F-6D16-86639045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1A59E0-5375-798B-33CA-B02ECB7F5462}"/>
              </a:ext>
            </a:extLst>
          </p:cNvPr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Crisis </a:t>
            </a:r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sanitarias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stock.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EC15D1-81A6-A4D6-67BD-CFD0BC08CF6D}"/>
              </a:ext>
            </a:extLst>
          </p:cNvPr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5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acceder a sus </a:t>
            </a:r>
            <a:r>
              <a:rPr lang="en-US" sz="15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stock. El </a:t>
            </a:r>
            <a:r>
              <a:rPr lang="en-US" sz="15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es </a:t>
            </a:r>
            <a:r>
              <a:rPr lang="en-US" sz="15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reciente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5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F74D717B-94E0-0B5E-E480-16A00D0B3556}"/>
              </a:ext>
            </a:extLst>
          </p:cNvPr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</a:t>
            </a:r>
            <a:endParaRPr lang="en-US" sz="9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D373FAB7-356E-37C6-2E39-84E9BA57CAFF}"/>
              </a:ext>
            </a:extLst>
          </p:cNvPr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2FBF9FDC-C7E1-136D-10EC-CDD67F7C1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08" y="1810512"/>
            <a:ext cx="2817761" cy="3934047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5B716D7D-F229-53F3-59C4-9808CCCBC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386" y="1810512"/>
            <a:ext cx="6346865" cy="402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70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stock existe. El problema es dónde está.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centro puede estar por quebrar mientras otro de la misma red tiene excedente.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114800" cy="3246120"/>
          </a:xfrm>
          <a:prstGeom prst="roundRect">
            <a:avLst>
              <a:gd name="adj" fmla="val 3380"/>
            </a:avLst>
          </a:prstGeom>
          <a:solidFill>
            <a:srgbClr val="FCE9EA"/>
          </a:solidFill>
          <a:ln/>
          <a:effectLst>
            <a:outerShdw blurRad="101600" dist="381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234440" y="22860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999" y="241355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86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CESFAM 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34440" y="2971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200" dirty="0"/>
          </a:p>
        </p:txBody>
      </p:sp>
      <p:sp>
        <p:nvSpPr>
          <p:cNvPr id="9" name="Text 6"/>
          <p:cNvSpPr/>
          <p:nvPr/>
        </p:nvSpPr>
        <p:spPr>
          <a:xfrm>
            <a:off x="123444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cobertura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28800" y="464515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472744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12848" y="4645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crítico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162495" y="1965960"/>
            <a:ext cx="4114800" cy="3246120"/>
          </a:xfrm>
          <a:prstGeom prst="roundRect">
            <a:avLst>
              <a:gd name="adj" fmla="val 3380"/>
            </a:avLst>
          </a:prstGeom>
          <a:solidFill>
            <a:srgbClr val="E4F7F0"/>
          </a:solidFill>
          <a:ln/>
          <a:effectLst>
            <a:outerShdw blurRad="101600" dist="381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7482535" y="22860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094" y="2413559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4055" y="2286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CESFAM B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482535" y="2971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9200" dirty="0"/>
          </a:p>
        </p:txBody>
      </p:sp>
      <p:sp>
        <p:nvSpPr>
          <p:cNvPr id="18" name="Text 13"/>
          <p:cNvSpPr/>
          <p:nvPr/>
        </p:nvSpPr>
        <p:spPr>
          <a:xfrm>
            <a:off x="7482535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cobertura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076895" y="464515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4911" y="4727448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60943" y="4645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disponible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166360" y="3589020"/>
            <a:ext cx="56372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17"/>
          <p:cNvSpPr/>
          <p:nvPr/>
        </p:nvSpPr>
        <p:spPr>
          <a:xfrm>
            <a:off x="6598768" y="3589020"/>
            <a:ext cx="56372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18"/>
          <p:cNvSpPr/>
          <p:nvPr/>
        </p:nvSpPr>
        <p:spPr>
          <a:xfrm>
            <a:off x="5775808" y="3268980"/>
            <a:ext cx="640080" cy="640080"/>
          </a:xfrm>
          <a:prstGeom prst="ellipse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828" y="342900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81448" y="39730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red de salud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48640" y="53766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detectar este desequilibrio y coordinar una redistribución a tiempo suele ser lento y depende de reportes manuales.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MedStock, en cuatro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dispersos a decisiones antes del quiebre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33574" cy="3291840"/>
          </a:xfrm>
          <a:prstGeom prst="roundRect">
            <a:avLst>
              <a:gd name="adj" fmla="val 3609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403947" y="2514600"/>
            <a:ext cx="822960" cy="822960"/>
          </a:xfrm>
          <a:prstGeom prst="ellipse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687" y="27203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79294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1678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19849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el stock y consumo de cada medicamento por centro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362" y="363016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02254" y="2148840"/>
            <a:ext cx="2533574" cy="3291840"/>
          </a:xfrm>
          <a:prstGeom prst="roundRect">
            <a:avLst>
              <a:gd name="adj" fmla="val 3609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4257561" y="2514600"/>
            <a:ext cx="822960" cy="822960"/>
          </a:xfrm>
          <a:prstGeom prst="ellipse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3301" y="27203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3290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585134" y="3566160"/>
            <a:ext cx="21678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Predice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3676574" y="4023360"/>
            <a:ext cx="19849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la demanda futura con la tendencia reciente de consumo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76" y="363016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5868" y="2148840"/>
            <a:ext cx="2533574" cy="3291840"/>
          </a:xfrm>
          <a:prstGeom prst="roundRect">
            <a:avLst>
              <a:gd name="adj" fmla="val 3609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3"/>
          <p:cNvSpPr/>
          <p:nvPr/>
        </p:nvSpPr>
        <p:spPr>
          <a:xfrm>
            <a:off x="7111175" y="2514600"/>
            <a:ext cx="822960" cy="822960"/>
          </a:xfrm>
          <a:prstGeom prst="ellipse">
            <a:avLst/>
          </a:prstGeom>
          <a:solidFill>
            <a:srgbClr val="FCE9E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915" y="272034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86521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438748" y="3566160"/>
            <a:ext cx="21678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6530188" y="4023360"/>
            <a:ext cx="19849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con anticipación el riesgo de quiebre de stock</a:t>
            </a:r>
            <a:endParaRPr lang="en-US" sz="12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589" y="3630168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09481" y="2148840"/>
            <a:ext cx="2533574" cy="3291840"/>
          </a:xfrm>
          <a:prstGeom prst="roundRect">
            <a:avLst>
              <a:gd name="adj" fmla="val 3609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Shape 18"/>
          <p:cNvSpPr/>
          <p:nvPr/>
        </p:nvSpPr>
        <p:spPr>
          <a:xfrm>
            <a:off x="9964788" y="2514600"/>
            <a:ext cx="822960" cy="822960"/>
          </a:xfrm>
          <a:prstGeom prst="ellipse">
            <a:avLst/>
          </a:prstGeom>
          <a:solidFill>
            <a:srgbClr val="E4F7F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0528" y="2720340"/>
            <a:ext cx="411480" cy="4114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140135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9292361" y="3566160"/>
            <a:ext cx="21678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Redistribuye</a:t>
            </a:r>
            <a:endParaRPr lang="en-US" sz="1900" dirty="0"/>
          </a:p>
        </p:txBody>
      </p:sp>
      <p:sp>
        <p:nvSpPr>
          <p:cNvPr id="30" name="Text 21"/>
          <p:cNvSpPr/>
          <p:nvPr/>
        </p:nvSpPr>
        <p:spPr>
          <a:xfrm>
            <a:off x="9383801" y="4023360"/>
            <a:ext cx="19849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 mover stock existente entre centros de la red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funciona?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crudo a la recomendación, en un flujo simple y trazable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063240" cy="3200400"/>
          </a:xfrm>
          <a:prstGeom prst="roundRect">
            <a:avLst>
              <a:gd name="adj" fmla="val 2985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66928" cy="566928"/>
          </a:xfrm>
          <a:prstGeom prst="ellipse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4277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 entrada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actual por centro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histórico diario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días/semanas recientes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reposiciones y fechas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3447288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97680" y="18288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0A3D62"/>
          </a:solidFill>
          <a:ln/>
          <a:effectLst>
            <a:outerShdw blurRad="127000" dist="38100" dir="5400000" algn="bl" rotWithShape="0">
              <a:srgbClr val="1A2733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7"/>
          <p:cNvSpPr/>
          <p:nvPr/>
        </p:nvSpPr>
        <p:spPr>
          <a:xfrm>
            <a:off x="5760720" y="2148840"/>
            <a:ext cx="640080" cy="64008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738" y="2292858"/>
            <a:ext cx="352044" cy="3520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262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MedStock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572000" y="333756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072D4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0"/>
          <p:cNvSpPr/>
          <p:nvPr/>
        </p:nvSpPr>
        <p:spPr>
          <a:xfrm>
            <a:off x="4663440" y="3337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cobertura =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actual ÷ Consumo diario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617720" y="4251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tendencia de consumo reciente mediante promedios móviles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26280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· explicable · auditable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3447288"/>
            <a:ext cx="329184" cy="32918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549640" y="2011680"/>
            <a:ext cx="3063240" cy="3200400"/>
          </a:xfrm>
          <a:prstGeom prst="roundRect">
            <a:avLst>
              <a:gd name="adj" fmla="val 2985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4"/>
          <p:cNvSpPr/>
          <p:nvPr/>
        </p:nvSpPr>
        <p:spPr>
          <a:xfrm>
            <a:off x="8823960" y="2286000"/>
            <a:ext cx="566928" cy="566928"/>
          </a:xfrm>
          <a:prstGeom prst="ellipse">
            <a:avLst/>
          </a:prstGeom>
          <a:solidFill>
            <a:srgbClr val="FCE9E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692" y="2427732"/>
            <a:ext cx="283464" cy="2834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823960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8823960" y="338328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riesgo de quiebre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por medicamento y centro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redistribución entre </a:t>
            </a:r>
            <a:r>
              <a:rPr lang="en-US" sz="12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</a:t>
            </a:r>
            <a:endParaRPr lang="en-US" sz="12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</a:t>
            </a:r>
            <a:r>
              <a:rPr lang="en-US" sz="12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generadas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2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simple y explicable — pensado para apoyar decisiones en salud pública, no una caja negra de IA compleja.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Losartán: la red se autorregula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datos simulados del prototipo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586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5518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65860" y="2057400"/>
            <a:ext cx="3383280" cy="1508760"/>
          </a:xfrm>
          <a:prstGeom prst="roundRect">
            <a:avLst>
              <a:gd name="adj" fmla="val 6061"/>
            </a:avLst>
          </a:prstGeom>
          <a:solidFill>
            <a:srgbClr val="FCE9E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367028" y="257403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13" y="268102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88820" y="22037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CESFAM 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88820" y="253288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30 u/día.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180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días.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0" y="2231136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749040" y="3044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050" dirty="0">
              <a:solidFill>
                <a:srgbClr val="E63946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165860" y="3749040"/>
            <a:ext cx="3383280" cy="1508760"/>
          </a:xfrm>
          <a:prstGeom prst="roundRect">
            <a:avLst>
              <a:gd name="adj" fmla="val 6061"/>
            </a:avLst>
          </a:prstGeom>
          <a:solidFill>
            <a:srgbClr val="E4F7F0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4" name="Shape 11"/>
          <p:cNvSpPr/>
          <p:nvPr/>
        </p:nvSpPr>
        <p:spPr>
          <a:xfrm>
            <a:off x="1367028" y="42656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13" y="437266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88820" y="38953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CESFAM B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88820" y="42245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 u/día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760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10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días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60420" y="385876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400" dirty="0">
              <a:solidFill>
                <a:srgbClr val="06A77D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3691889" y="4650740"/>
            <a:ext cx="434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050" dirty="0">
              <a:solidFill>
                <a:srgbClr val="06A77D"/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7155180" y="2057400"/>
            <a:ext cx="3383280" cy="1508760"/>
          </a:xfrm>
          <a:prstGeom prst="roundRect">
            <a:avLst>
              <a:gd name="adj" fmla="val 6061"/>
            </a:avLst>
          </a:prstGeom>
          <a:solidFill>
            <a:srgbClr val="E4F7F0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21" name="Shape 17"/>
          <p:cNvSpPr/>
          <p:nvPr/>
        </p:nvSpPr>
        <p:spPr>
          <a:xfrm>
            <a:off x="7356348" y="257403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333" y="2681021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978140" y="22037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CESFAM A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978140" y="253288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480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10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Alcanzará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hasta la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155180" y="3749040"/>
            <a:ext cx="3383280" cy="1508760"/>
          </a:xfrm>
          <a:prstGeom prst="roundRect">
            <a:avLst>
              <a:gd name="adj" fmla="val 6061"/>
            </a:avLst>
          </a:prstGeom>
          <a:solidFill>
            <a:srgbClr val="E4F7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Shape 23"/>
          <p:cNvSpPr/>
          <p:nvPr/>
        </p:nvSpPr>
        <p:spPr>
          <a:xfrm>
            <a:off x="7356348" y="42656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333" y="4372661"/>
            <a:ext cx="261518" cy="26151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978140" y="38953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CESFAM B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978140" y="42245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0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stock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9293855" y="385876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400" dirty="0"/>
          </a:p>
        </p:txBody>
      </p:sp>
      <p:sp>
        <p:nvSpPr>
          <p:cNvPr id="33" name="Text 27"/>
          <p:cNvSpPr/>
          <p:nvPr/>
        </p:nvSpPr>
        <p:spPr>
          <a:xfrm>
            <a:off x="9293855" y="48737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852160" y="2240280"/>
            <a:ext cx="0" cy="1325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29"/>
          <p:cNvSpPr/>
          <p:nvPr/>
        </p:nvSpPr>
        <p:spPr>
          <a:xfrm>
            <a:off x="5852160" y="3794760"/>
            <a:ext cx="0" cy="1325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0"/>
          <p:cNvSpPr/>
          <p:nvPr/>
        </p:nvSpPr>
        <p:spPr>
          <a:xfrm>
            <a:off x="5486400" y="3291840"/>
            <a:ext cx="731520" cy="731520"/>
          </a:xfrm>
          <a:prstGeom prst="ellipse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474720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686300" y="4096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unidades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686300" y="4617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CESFAM B → CESFAM A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548640" y="55778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06A77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779008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463040" y="557784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quiebre de stock potencialmente evitado, sin necesidad inmediata de comprar más medicamentos.</a:t>
            </a:r>
            <a:endParaRPr lang="en-US" sz="1500" dirty="0"/>
          </a:p>
        </p:txBody>
      </p:sp>
      <p:sp>
        <p:nvSpPr>
          <p:cNvPr id="43" name="Text 3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4A625D38-0DCB-53C3-D838-CDD7FCD4DFB6}"/>
              </a:ext>
            </a:extLst>
          </p:cNvPr>
          <p:cNvSpPr/>
          <p:nvPr/>
        </p:nvSpPr>
        <p:spPr>
          <a:xfrm>
            <a:off x="9441180" y="2213864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>
              <a:solidFill>
                <a:srgbClr val="06A77D"/>
              </a:solidFill>
            </a:endParaRPr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4EC2F6D0-086A-F83D-E7E4-3FD66D54ED3B}"/>
              </a:ext>
            </a:extLst>
          </p:cNvPr>
          <p:cNvSpPr/>
          <p:nvPr/>
        </p:nvSpPr>
        <p:spPr>
          <a:xfrm>
            <a:off x="9772649" y="3005836"/>
            <a:ext cx="434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050" dirty="0">
              <a:solidFill>
                <a:srgbClr val="06A77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</a:t>
            </a:r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i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Dashboard</a:t>
            </a:r>
            <a:endParaRPr lang="en-US" sz="3200" dirty="0"/>
          </a:p>
        </p:txBody>
      </p:sp>
      <p:sp>
        <p:nvSpPr>
          <p:cNvPr id="58" name="Text 5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B283D1CC-7C37-D277-FB85-347262A3A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513" y="1506193"/>
            <a:ext cx="10244667" cy="40696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FDD05-5029-E224-1208-09B82D929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54DC14-991B-ADA2-4029-97069D4F7807}"/>
              </a:ext>
            </a:extLst>
          </p:cNvPr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</a:t>
            </a:r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i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</a:t>
            </a:r>
            <a:endParaRPr lang="en-US" sz="3200" dirty="0"/>
          </a:p>
        </p:txBody>
      </p:sp>
      <p:sp>
        <p:nvSpPr>
          <p:cNvPr id="58" name="Text 52">
            <a:extLst>
              <a:ext uri="{FF2B5EF4-FFF2-40B4-BE49-F238E27FC236}">
                <a16:creationId xmlns:a16="http://schemas.microsoft.com/office/drawing/2014/main" id="{C86C56A1-FBBD-96FD-55D7-D8D625F444DA}"/>
              </a:ext>
            </a:extLst>
          </p:cNvPr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</a:t>
            </a:r>
            <a:endParaRPr lang="en-US" sz="900" dirty="0"/>
          </a:p>
        </p:txBody>
      </p:sp>
      <p:sp>
        <p:nvSpPr>
          <p:cNvPr id="59" name="Text 53">
            <a:extLst>
              <a:ext uri="{FF2B5EF4-FFF2-40B4-BE49-F238E27FC236}">
                <a16:creationId xmlns:a16="http://schemas.microsoft.com/office/drawing/2014/main" id="{136FF209-DEE1-84DC-D6B9-A8CE7FFE1241}"/>
              </a:ext>
            </a:extLst>
          </p:cNvPr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E1FEB9-F228-19CE-08AB-BCE5A055D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54" y="1205776"/>
            <a:ext cx="8970585" cy="524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9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0B9A-D8B8-B821-1662-C6E50D1F1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DB00D4-BF86-D5A9-1B50-61E5AFB35A10}"/>
              </a:ext>
            </a:extLst>
          </p:cNvPr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</a:t>
            </a:r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i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Transferencias</a:t>
            </a: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</a:t>
            </a:r>
            <a:r>
              <a:rPr lang="en-US" sz="3200" b="1" dirty="0" err="1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</a:t>
            </a:r>
            <a:endParaRPr lang="en-US" sz="3200" dirty="0"/>
          </a:p>
        </p:txBody>
      </p:sp>
      <p:sp>
        <p:nvSpPr>
          <p:cNvPr id="58" name="Text 52">
            <a:extLst>
              <a:ext uri="{FF2B5EF4-FFF2-40B4-BE49-F238E27FC236}">
                <a16:creationId xmlns:a16="http://schemas.microsoft.com/office/drawing/2014/main" id="{3F74A806-51EA-0BA8-B9BC-D93232D1667F}"/>
              </a:ext>
            </a:extLst>
          </p:cNvPr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</a:t>
            </a:r>
            <a:endParaRPr lang="en-US" sz="900" dirty="0"/>
          </a:p>
        </p:txBody>
      </p:sp>
      <p:sp>
        <p:nvSpPr>
          <p:cNvPr id="59" name="Text 53">
            <a:extLst>
              <a:ext uri="{FF2B5EF4-FFF2-40B4-BE49-F238E27FC236}">
                <a16:creationId xmlns:a16="http://schemas.microsoft.com/office/drawing/2014/main" id="{8B187C49-9E48-210A-5BAE-FEBDFF13A48C}"/>
              </a:ext>
            </a:extLst>
          </p:cNvPr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584585-C43E-3543-A922-F4AB06D40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475" y="3981697"/>
            <a:ext cx="6441580" cy="20809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A666BA0-6B43-ADC1-32BF-ACBAC9F63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54" y="1387699"/>
            <a:ext cx="7400260" cy="226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66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potencial en la red de salud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MedStock podría aportar a la gestión de una red de atención primaria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4778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21705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quiebres de stock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riesgos antes de que afecten a los pacientes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3458" y="1828800"/>
            <a:ext cx="3484778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4582058" y="2057400"/>
            <a:ext cx="502920" cy="502920"/>
          </a:xfrm>
          <a:prstGeom prst="ellipse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215" y="21705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2138" y="201168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tratamiento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82058" y="265176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interrupciones innecesarias en la entrega de medicamentos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8277" y="1828800"/>
            <a:ext cx="3484778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8386877" y="2057400"/>
            <a:ext cx="502920" cy="502920"/>
          </a:xfrm>
          <a:prstGeom prst="ellipse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034" y="217055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26957" y="201168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eficiente de recursos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86877" y="265176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 el stock existente en toda la red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484778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5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397" y="386219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70332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compras de emergencia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34340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necesidad de adquisiciones urgentes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3458" y="3520440"/>
            <a:ext cx="3484778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19"/>
          <p:cNvSpPr/>
          <p:nvPr/>
        </p:nvSpPr>
        <p:spPr>
          <a:xfrm>
            <a:off x="4582058" y="3749040"/>
            <a:ext cx="502920" cy="502920"/>
          </a:xfrm>
          <a:prstGeom prst="ellipse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215" y="386219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2138" y="370332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coordinación entre centros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82058" y="434340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acuerdos de redistribución dentro de la red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8277" y="3520440"/>
            <a:ext cx="3484778" cy="1417320"/>
          </a:xfrm>
          <a:prstGeom prst="roundRect">
            <a:avLst>
              <a:gd name="adj" fmla="val 580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Shape 23"/>
          <p:cNvSpPr/>
          <p:nvPr/>
        </p:nvSpPr>
        <p:spPr>
          <a:xfrm>
            <a:off x="8386877" y="3749040"/>
            <a:ext cx="502920" cy="502920"/>
          </a:xfrm>
          <a:prstGeom prst="ellipse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0034" y="386219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26957" y="370332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anticipada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86877" y="4343400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alertas tempranas a los equipos de gestión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1663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12664"/>
            <a:ext cx="301752" cy="30175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71600" y="5166360"/>
            <a:ext cx="10271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 apoya la toma de decisiones de los equipos de </a:t>
            </a:r>
            <a:r>
              <a:rPr lang="en-US" sz="1300" b="1" dirty="0" err="1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b="1" dirty="0" err="1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</a:t>
            </a: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los reemplaza.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72D4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326880" y="3840480"/>
            <a:ext cx="5120640" cy="5120640"/>
          </a:xfrm>
          <a:prstGeom prst="ellipse">
            <a:avLst/>
          </a:prstGeom>
          <a:solidFill>
            <a:srgbClr val="072D4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84368" y="822960"/>
            <a:ext cx="822960" cy="822960"/>
          </a:xfrm>
          <a:prstGeom prst="ellipse">
            <a:avLst/>
          </a:prstGeom>
          <a:solidFill>
            <a:srgbClr val="1C6EA4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108" y="1028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8088" y="19202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medicamento que falta en un centro puede estar disponible a pocos kilómetros de distancia.”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523848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MedStock ayuda a encontrarlo antes de que sea demasiado tarde.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0" y="57607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MedStock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 Salud Pública · Prototipo MVP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591</Words>
  <Application>Microsoft Office PowerPoint</Application>
  <PresentationFormat>Panorámica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Constanza Belén Vicencio Cereseto</cp:lastModifiedBy>
  <cp:revision>2</cp:revision>
  <dcterms:created xsi:type="dcterms:W3CDTF">2026-08-14T16:59:13Z</dcterms:created>
  <dcterms:modified xsi:type="dcterms:W3CDTF">2026-08-14T21:57:13Z</dcterms:modified>
</cp:coreProperties>
</file>